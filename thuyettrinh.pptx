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Lato" charset="1" panose="020F0502020204030203"/>
      <p:regular r:id="rId20"/>
    </p:embeddedFont>
    <p:embeddedFont>
      <p:font typeface="Lato Bold" charset="1" panose="020F0502020204030203"/>
      <p:regular r:id="rId21"/>
    </p:embeddedFont>
    <p:embeddedFont>
      <p:font typeface="Calibri (MS)" charset="1" panose="020F050202020403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https://holoc2021tv.github.io/Demo-DOC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-492269" y="3349291"/>
            <a:ext cx="19646926" cy="1402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9"/>
              </a:lnSpc>
            </a:pPr>
            <a:r>
              <a:rPr lang="en-US" b="true" sz="8128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PLANT SHOP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76378" y="5237578"/>
            <a:ext cx="12535215" cy="64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2925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HTML </a:t>
            </a:r>
            <a:r>
              <a:rPr lang="en-US" sz="2925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DOM Application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6889204"/>
            <a:ext cx="16573500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475">
                <a:solidFill>
                  <a:srgbClr val="1B5E20"/>
                </a:solidFill>
                <a:latin typeface="Lato Bold"/>
                <a:ea typeface="Lato Bold"/>
                <a:cs typeface="Lato Bold"/>
                <a:sym typeface="Lato Bold"/>
              </a:rPr>
              <a:t>Presented by: Ho The Loc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7270356"/>
            <a:ext cx="16573500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475">
                <a:solidFill>
                  <a:srgbClr val="1B5E20"/>
                </a:solidFill>
                <a:latin typeface="Lato Bold"/>
                <a:ea typeface="Lato Bold"/>
                <a:cs typeface="Lato Bold"/>
                <a:sym typeface="Lato Bold"/>
              </a:rPr>
              <a:t>Student ID: 110124109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364" y="7651499"/>
            <a:ext cx="16573500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475">
                <a:solidFill>
                  <a:srgbClr val="1B5E20"/>
                </a:solidFill>
                <a:latin typeface="Lato Bold"/>
                <a:ea typeface="Lato Bold"/>
                <a:cs typeface="Lato Bold"/>
                <a:sym typeface="Lato Bold"/>
              </a:rPr>
              <a:t>Class: DA24TTC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64354" y="270710"/>
            <a:ext cx="2559263" cy="2559263"/>
            <a:chOff x="0" y="0"/>
            <a:chExt cx="3412350" cy="3412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12363" cy="3412363"/>
            </a:xfrm>
            <a:custGeom>
              <a:avLst/>
              <a:gdLst/>
              <a:ahLst/>
              <a:cxnLst/>
              <a:rect r="r" b="b" t="t" l="l"/>
              <a:pathLst>
                <a:path h="3412363" w="3412363">
                  <a:moveTo>
                    <a:pt x="0" y="0"/>
                  </a:moveTo>
                  <a:lnTo>
                    <a:pt x="3412363" y="0"/>
                  </a:lnTo>
                  <a:lnTo>
                    <a:pt x="3412363" y="3412363"/>
                  </a:lnTo>
                  <a:lnTo>
                    <a:pt x="0" y="3412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171825"/>
            <a:ext cx="5238826" cy="5186362"/>
            <a:chOff x="0" y="0"/>
            <a:chExt cx="6985102" cy="69151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6915150"/>
            </a:xfrm>
            <a:custGeom>
              <a:avLst/>
              <a:gdLst/>
              <a:ahLst/>
              <a:cxnLst/>
              <a:rect r="r" b="b" t="t" l="l"/>
              <a:pathLst>
                <a:path h="69151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6915150"/>
                  </a:lnTo>
                  <a:lnTo>
                    <a:pt x="0" y="6915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24701" y="3171825"/>
            <a:ext cx="5238826" cy="5186362"/>
            <a:chOff x="0" y="0"/>
            <a:chExt cx="6985102" cy="69151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6915150"/>
            </a:xfrm>
            <a:custGeom>
              <a:avLst/>
              <a:gdLst/>
              <a:ahLst/>
              <a:cxnLst/>
              <a:rect r="r" b="b" t="t" l="l"/>
              <a:pathLst>
                <a:path h="69151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6915150"/>
                  </a:lnTo>
                  <a:lnTo>
                    <a:pt x="0" y="6915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6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92152" y="3171825"/>
            <a:ext cx="5238826" cy="5186362"/>
            <a:chOff x="0" y="0"/>
            <a:chExt cx="6985102" cy="69151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985127" cy="6915150"/>
            </a:xfrm>
            <a:custGeom>
              <a:avLst/>
              <a:gdLst/>
              <a:ahLst/>
              <a:cxnLst/>
              <a:rect r="r" b="b" t="t" l="l"/>
              <a:pathLst>
                <a:path h="69151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6915150"/>
                  </a:lnTo>
                  <a:lnTo>
                    <a:pt x="0" y="6915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6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28750" y="4867275"/>
            <a:ext cx="2438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3150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Dynamic UI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5538787"/>
            <a:ext cx="4095902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Render content without page reloads.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96201" y="4867275"/>
            <a:ext cx="306605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Cart Workflow: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96201" y="5538787"/>
            <a:ext cx="4095902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22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omplete CRUD (Create, Read, Update, Delete) cycle.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63652" y="5538787"/>
            <a:ext cx="4095902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n-US" sz="22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ocus on XSS-safe code architecture.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28750" y="3814762"/>
            <a:ext cx="900112" cy="714375"/>
            <a:chOff x="0" y="0"/>
            <a:chExt cx="1200150" cy="9525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1200150" cy="952500"/>
            </a:xfrm>
            <a:custGeom>
              <a:avLst/>
              <a:gdLst/>
              <a:ahLst/>
              <a:cxnLst/>
              <a:rect r="r" b="b" t="t" l="l"/>
              <a:pathLst>
                <a:path h="952500" w="1200150">
                  <a:moveTo>
                    <a:pt x="0" y="0"/>
                  </a:moveTo>
                  <a:lnTo>
                    <a:pt x="1200150" y="0"/>
                  </a:lnTo>
                  <a:lnTo>
                    <a:pt x="120015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096201" y="3814762"/>
            <a:ext cx="800100" cy="714375"/>
            <a:chOff x="0" y="0"/>
            <a:chExt cx="1066800" cy="9525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066800" cy="952500"/>
            </a:xfrm>
            <a:custGeom>
              <a:avLst/>
              <a:gdLst/>
              <a:ahLst/>
              <a:cxnLst/>
              <a:rect r="r" b="b" t="t" l="l"/>
              <a:pathLst>
                <a:path h="9525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78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763652" y="3814762"/>
            <a:ext cx="714375" cy="714375"/>
            <a:chOff x="0" y="0"/>
            <a:chExt cx="952500" cy="9525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200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43000" y="809625"/>
            <a:ext cx="505092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8BC34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763652" y="4886325"/>
            <a:ext cx="170864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Se</a:t>
            </a:r>
            <a:r>
              <a:rPr lang="en-US" b="true" sz="3150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curity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29750" y="3050381"/>
            <a:ext cx="8001000" cy="5429250"/>
            <a:chOff x="0" y="0"/>
            <a:chExt cx="10668000" cy="7239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668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6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56473" y="3100211"/>
            <a:ext cx="7506692" cy="51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2362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HTML5</a:t>
            </a:r>
            <a:r>
              <a:rPr lang="en-US" sz="2362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&amp; Bootstrap 5: Structure and Responsive Layout.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6473" y="4320779"/>
            <a:ext cx="7700848" cy="51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1"/>
              </a:lnSpc>
            </a:pP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Vanilla</a:t>
            </a: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Java</a:t>
            </a: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cript:</a:t>
            </a: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Core</a:t>
            </a: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gic</a:t>
            </a: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54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&amp; DOM Tree Management.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1663" y="5530691"/>
            <a:ext cx="8272462" cy="523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sz="2347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2347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347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2347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2347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r>
              <a:rPr lang="en-US" sz="2347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347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Centralized Array of Objects.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3258979"/>
            <a:ext cx="257175" cy="357188"/>
            <a:chOff x="0" y="0"/>
            <a:chExt cx="342900" cy="47625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342900" cy="476250"/>
            </a:xfrm>
            <a:custGeom>
              <a:avLst/>
              <a:gdLst/>
              <a:ahLst/>
              <a:cxnLst/>
              <a:rect r="r" b="b" t="t" l="l"/>
              <a:pathLst>
                <a:path h="4762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42962" y="4478416"/>
            <a:ext cx="257175" cy="357188"/>
            <a:chOff x="0" y="0"/>
            <a:chExt cx="342900" cy="4762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342900" cy="476250"/>
            </a:xfrm>
            <a:custGeom>
              <a:avLst/>
              <a:gdLst/>
              <a:ahLst/>
              <a:cxnLst/>
              <a:rect r="r" b="b" t="t" l="l"/>
              <a:pathLst>
                <a:path h="4762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250" y="5702141"/>
            <a:ext cx="300038" cy="357188"/>
            <a:chOff x="0" y="0"/>
            <a:chExt cx="400050" cy="4762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00050" cy="476250"/>
            </a:xfrm>
            <a:custGeom>
              <a:avLst/>
              <a:gdLst/>
              <a:ahLst/>
              <a:cxnLst/>
              <a:rect r="r" b="b" t="t" l="l"/>
              <a:pathLst>
                <a:path h="47625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43000" y="809625"/>
            <a:ext cx="17102252" cy="705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Stack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40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8BC34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444038" y="3050362"/>
            <a:ext cx="8001000" cy="5429250"/>
            <a:chOff x="0" y="0"/>
            <a:chExt cx="10668000" cy="723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8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263" r="0" b="-526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171825"/>
            <a:ext cx="8001000" cy="5186362"/>
            <a:chOff x="0" y="0"/>
            <a:chExt cx="10668000" cy="69151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668000" cy="6915150"/>
            </a:xfrm>
            <a:custGeom>
              <a:avLst/>
              <a:gdLst/>
              <a:ahLst/>
              <a:cxnLst/>
              <a:rect r="r" b="b" t="t" l="l"/>
              <a:pathLst>
                <a:path h="691515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6915150"/>
                  </a:lnTo>
                  <a:lnTo>
                    <a:pt x="0" y="6915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29750" y="3171825"/>
            <a:ext cx="8001000" cy="5186362"/>
            <a:chOff x="0" y="0"/>
            <a:chExt cx="10668000" cy="69151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668000" cy="6915150"/>
            </a:xfrm>
            <a:custGeom>
              <a:avLst/>
              <a:gdLst/>
              <a:ahLst/>
              <a:cxnLst/>
              <a:rect r="r" b="b" t="t" l="l"/>
              <a:pathLst>
                <a:path h="691515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6915150"/>
                  </a:lnTo>
                  <a:lnTo>
                    <a:pt x="0" y="6915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01733" y="4146886"/>
            <a:ext cx="7556517" cy="351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562" b="true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const productList = [ </a:t>
            </a:r>
          </a:p>
          <a:p>
            <a:pPr algn="l">
              <a:lnSpc>
                <a:spcPts val="3075"/>
              </a:lnSpc>
            </a:pPr>
            <a:r>
              <a:rPr lang="en-US" sz="2562" b="true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  { </a:t>
            </a:r>
          </a:p>
          <a:p>
            <a:pPr algn="l">
              <a:lnSpc>
                <a:spcPts val="3075"/>
              </a:lnSpc>
            </a:pPr>
            <a:r>
              <a:rPr lang="en-US" b="true" sz="2562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</a:t>
            </a:r>
            <a:r>
              <a:rPr lang="en-US" b="true" sz="2562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id: "1", </a:t>
            </a:r>
          </a:p>
          <a:p>
            <a:pPr algn="l">
              <a:lnSpc>
                <a:spcPts val="3075"/>
              </a:lnSpc>
            </a:pPr>
            <a:r>
              <a:rPr lang="en-US" b="true" sz="2562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name: "Bàng Singapore", </a:t>
            </a:r>
          </a:p>
          <a:p>
            <a:pPr algn="l">
              <a:lnSpc>
                <a:spcPts val="3075"/>
              </a:lnSpc>
            </a:pPr>
            <a:r>
              <a:rPr lang="en-US" b="true" sz="2562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price: "130.000", </a:t>
            </a:r>
          </a:p>
          <a:p>
            <a:pPr algn="l">
              <a:lnSpc>
                <a:spcPts val="3075"/>
              </a:lnSpc>
            </a:pPr>
            <a:r>
              <a:rPr lang="en-US" b="true" sz="2562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productLink: "detail.html" </a:t>
            </a:r>
          </a:p>
          <a:p>
            <a:pPr algn="l">
              <a:lnSpc>
                <a:spcPts val="3075"/>
              </a:lnSpc>
            </a:pPr>
            <a:r>
              <a:rPr lang="en-US" b="true" sz="2562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  } </a:t>
            </a:r>
          </a:p>
          <a:p>
            <a:pPr algn="l">
              <a:lnSpc>
                <a:spcPts val="3075"/>
              </a:lnSpc>
            </a:pPr>
            <a:r>
              <a:rPr lang="en-US" b="true" sz="2562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];</a:t>
            </a:r>
          </a:p>
          <a:p>
            <a:pPr algn="l">
              <a:lnSpc>
                <a:spcPts val="307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809625"/>
            <a:ext cx="720576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Management (lib.js)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8BC34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30186" y="3946861"/>
            <a:ext cx="8553094" cy="229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8"/>
              </a:lnSpc>
              <a:spcBef>
                <a:spcPct val="0"/>
              </a:spcBef>
            </a:pPr>
            <a:r>
              <a:rPr lang="en-US" sz="325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Separating data structures cleanly from </a:t>
            </a:r>
          </a:p>
          <a:p>
            <a:pPr algn="l">
              <a:lnSpc>
                <a:spcPts val="6258"/>
              </a:lnSpc>
              <a:spcBef>
                <a:spcPct val="0"/>
              </a:spcBef>
            </a:pPr>
            <a:r>
              <a:rPr lang="en-US" sz="325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visual markup, allowing rapid iteration </a:t>
            </a:r>
          </a:p>
          <a:p>
            <a:pPr algn="l">
              <a:lnSpc>
                <a:spcPts val="6258"/>
              </a:lnSpc>
              <a:spcBef>
                <a:spcPct val="0"/>
              </a:spcBef>
            </a:pPr>
            <a:r>
              <a:rPr lang="en-US" sz="325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and clean rendering loops.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748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2312194"/>
            <a:ext cx="7943850" cy="311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</a:t>
            </a: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 createElement instead of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innerHTML to prevent Cross-Site Scripting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(XSS) input vulnerabilities.</a:t>
            </a:r>
          </a:p>
          <a:p>
            <a:pPr algn="l">
              <a:lnSpc>
                <a:spcPts val="631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809625"/>
            <a:ext cx="17102252" cy="705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Core DOM Knowledge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8BC34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25071" y="2550319"/>
            <a:ext cx="8001000" cy="5186362"/>
            <a:chOff x="0" y="0"/>
            <a:chExt cx="10668000" cy="69151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668000" cy="6915150"/>
            </a:xfrm>
            <a:custGeom>
              <a:avLst/>
              <a:gdLst/>
              <a:ahLst/>
              <a:cxnLst/>
              <a:rect r="r" b="b" t="t" l="l"/>
              <a:pathLst>
                <a:path h="691515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6915150"/>
                  </a:lnTo>
                  <a:lnTo>
                    <a:pt x="0" y="6915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694126" y="2571009"/>
            <a:ext cx="7831945" cy="516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3391" b="true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const item = </a:t>
            </a:r>
          </a:p>
          <a:p>
            <a:pPr algn="l">
              <a:lnSpc>
                <a:spcPts val="4069"/>
              </a:lnSpc>
            </a:pPr>
            <a:r>
              <a:rPr lang="en-US" b="true" sz="3391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</a:t>
            </a:r>
            <a:r>
              <a:rPr lang="en-US" b="true" sz="3391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document.createElement("div"); </a:t>
            </a:r>
          </a:p>
          <a:p>
            <a:pPr algn="l">
              <a:lnSpc>
                <a:spcPts val="4069"/>
              </a:lnSpc>
            </a:pPr>
            <a:r>
              <a:rPr lang="en-US" b="true" sz="3391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  item.className = "col mb-3"; </a:t>
            </a:r>
          </a:p>
          <a:p>
            <a:pPr algn="l">
              <a:lnSpc>
                <a:spcPts val="4069"/>
              </a:lnSpc>
            </a:pPr>
          </a:p>
          <a:p>
            <a:pPr algn="l">
              <a:lnSpc>
                <a:spcPts val="4069"/>
              </a:lnSpc>
            </a:pPr>
            <a:r>
              <a:rPr lang="en-US" b="true" sz="3391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     const title = </a:t>
            </a:r>
          </a:p>
          <a:p>
            <a:pPr algn="l">
              <a:lnSpc>
                <a:spcPts val="4069"/>
              </a:lnSpc>
            </a:pPr>
            <a:r>
              <a:rPr lang="en-US" b="true" sz="3391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document.createElement("h6"); </a:t>
            </a:r>
          </a:p>
          <a:p>
            <a:pPr algn="l">
              <a:lnSpc>
                <a:spcPts val="4069"/>
              </a:lnSpc>
            </a:pPr>
            <a:r>
              <a:rPr lang="en-US" b="true" sz="3391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 title.textContent = name;</a:t>
            </a:r>
          </a:p>
          <a:p>
            <a:pPr algn="l">
              <a:lnSpc>
                <a:spcPts val="406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09625"/>
            <a:ext cx="555962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DOM</a:t>
            </a: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 Tree Assembly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8BC34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7451" y="2812059"/>
            <a:ext cx="9056758" cy="5870720"/>
            <a:chOff x="0" y="0"/>
            <a:chExt cx="10668000" cy="691515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0668000" cy="6915150"/>
            </a:xfrm>
            <a:custGeom>
              <a:avLst/>
              <a:gdLst/>
              <a:ahLst/>
              <a:cxnLst/>
              <a:rect r="r" b="b" t="t" l="l"/>
              <a:pathLst>
                <a:path h="691515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6915150"/>
                  </a:lnTo>
                  <a:lnTo>
                    <a:pt x="0" y="6915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57250" y="3209925"/>
            <a:ext cx="8758992" cy="441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ca</a:t>
            </a: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rdBody.appendChild(title);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cardBody.appendChild(priceText);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card.appendChild(cardBody);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productItem.appendChild(card);</a:t>
            </a:r>
          </a:p>
          <a:p>
            <a:pPr algn="l">
              <a:lnSpc>
                <a:spcPts val="3869"/>
              </a:lnSpc>
            </a:pP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document.getElementById("product?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list")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.appendChild(productItem);</a:t>
            </a:r>
          </a:p>
          <a:p>
            <a:pPr algn="l">
              <a:lnSpc>
                <a:spcPts val="386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774209" y="2836067"/>
            <a:ext cx="7485091" cy="311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</a:t>
            </a: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ructs nodes safely in browser local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memory before pushing them live to the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dynamic container.</a:t>
            </a:r>
          </a:p>
          <a:p>
            <a:pPr algn="l">
              <a:lnSpc>
                <a:spcPts val="6311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09625"/>
            <a:ext cx="501074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Meta</a:t>
            </a: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Binding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8BC34A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908973" y="2796788"/>
            <a:ext cx="2576998" cy="465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setAttribute(”class”,””)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9801" y="2033327"/>
            <a:ext cx="8180984" cy="390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Embedding system identifie</a:t>
            </a: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rs and data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parameters directly into HTML button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components for instantaneous click tracking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access</a:t>
            </a:r>
          </a:p>
          <a:p>
            <a:pPr algn="l">
              <a:lnSpc>
                <a:spcPts val="631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9050785" y="2271452"/>
            <a:ext cx="8723134" cy="5680078"/>
            <a:chOff x="0" y="0"/>
            <a:chExt cx="10275023" cy="6690592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10275022" cy="6690592"/>
            </a:xfrm>
            <a:custGeom>
              <a:avLst/>
              <a:gdLst/>
              <a:ahLst/>
              <a:cxnLst/>
              <a:rect r="r" b="b" t="t" l="l"/>
              <a:pathLst>
                <a:path h="6690592" w="10275022">
                  <a:moveTo>
                    <a:pt x="0" y="0"/>
                  </a:moveTo>
                  <a:lnTo>
                    <a:pt x="10275022" y="0"/>
                  </a:lnTo>
                  <a:lnTo>
                    <a:pt x="10275022" y="6690592"/>
                  </a:lnTo>
                  <a:lnTo>
                    <a:pt x="0" y="669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6" t="0" r="-226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44000" y="2242877"/>
            <a:ext cx="8758992" cy="441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btnA</a:t>
            </a: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dd.setAttribute("data-id",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id); </a:t>
            </a:r>
          </a:p>
          <a:p>
            <a:pPr algn="l">
              <a:lnSpc>
                <a:spcPts val="3869"/>
              </a:lnSpc>
            </a:pP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btnAdd.setAttribute("data-name",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name); </a:t>
            </a:r>
          </a:p>
          <a:p>
            <a:pPr algn="l">
              <a:lnSpc>
                <a:spcPts val="3869"/>
              </a:lnSpc>
            </a:pP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btnAdd.setAttribute("data-price",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price);</a:t>
            </a:r>
          </a:p>
          <a:p>
            <a:pPr algn="l">
              <a:lnSpc>
                <a:spcPts val="386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57402" y="892969"/>
            <a:ext cx="750105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Eve</a:t>
            </a: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nt Delegation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8BC34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670155"/>
            <a:ext cx="8723134" cy="6333974"/>
            <a:chOff x="0" y="0"/>
            <a:chExt cx="10275023" cy="7460819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0275022" cy="7460819"/>
            </a:xfrm>
            <a:custGeom>
              <a:avLst/>
              <a:gdLst/>
              <a:ahLst/>
              <a:cxnLst/>
              <a:rect r="r" b="b" t="t" l="l"/>
              <a:pathLst>
                <a:path h="7460819" w="10275022">
                  <a:moveTo>
                    <a:pt x="0" y="0"/>
                  </a:moveTo>
                  <a:lnTo>
                    <a:pt x="10275022" y="0"/>
                  </a:lnTo>
                  <a:lnTo>
                    <a:pt x="10275022" y="7460819"/>
                  </a:lnTo>
                  <a:lnTo>
                    <a:pt x="0" y="7460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008" t="0" r="-600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57402" y="3124597"/>
            <a:ext cx="8758992" cy="587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</a:t>
            </a: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.getElementById("product?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list")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.addEventListener("click",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function(e) {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if(e.target.classList.contains("add"))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{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const id =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e.target.getAttribute("data-id");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// Cart logic...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}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});</a:t>
            </a:r>
          </a:p>
          <a:p>
            <a:pPr algn="l">
              <a:lnSpc>
                <a:spcPts val="386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107016" y="2915047"/>
            <a:ext cx="7152284" cy="390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Attaching a single event listene</a:t>
            </a: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 to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static parent node instead of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hundreds of child buttons. Minimizes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application RAM footprint.</a:t>
            </a:r>
          </a:p>
          <a:p>
            <a:pPr algn="l">
              <a:lnSpc>
                <a:spcPts val="6311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09625"/>
            <a:ext cx="790773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b="true" sz="4275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RL Parameters &amp; Safe State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857250"/>
            <a:ext cx="114300" cy="814388"/>
            <a:chOff x="0" y="0"/>
            <a:chExt cx="152400" cy="10858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085850"/>
                  </a:lnTo>
                  <a:lnTo>
                    <a:pt x="0" y="1085850"/>
                  </a:lnTo>
                  <a:close/>
                </a:path>
              </a:pathLst>
            </a:custGeom>
            <a:solidFill>
              <a:srgbClr val="8BC34A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971550" y="2736321"/>
            <a:ext cx="7152284" cy="390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assing state identifiers via page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location que</a:t>
            </a: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ry strings. Using safe text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node injection logic to render </a:t>
            </a:r>
          </a:p>
          <a:p>
            <a:pPr algn="l">
              <a:lnSpc>
                <a:spcPts val="6311"/>
              </a:lnSpc>
            </a:pPr>
            <a:r>
              <a:rPr lang="en-US" sz="328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contents safely.</a:t>
            </a:r>
          </a:p>
          <a:p>
            <a:pPr algn="l">
              <a:lnSpc>
                <a:spcPts val="631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8123834" y="2303461"/>
            <a:ext cx="9743300" cy="6275835"/>
            <a:chOff x="0" y="0"/>
            <a:chExt cx="11476681" cy="7392337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1476681" cy="7392336"/>
            </a:xfrm>
            <a:custGeom>
              <a:avLst/>
              <a:gdLst/>
              <a:ahLst/>
              <a:cxnLst/>
              <a:rect r="r" b="b" t="t" l="l"/>
              <a:pathLst>
                <a:path h="7392336" w="11476681">
                  <a:moveTo>
                    <a:pt x="0" y="0"/>
                  </a:moveTo>
                  <a:lnTo>
                    <a:pt x="11476681" y="0"/>
                  </a:lnTo>
                  <a:lnTo>
                    <a:pt x="11476681" y="7392336"/>
                  </a:lnTo>
                  <a:lnTo>
                    <a:pt x="0" y="739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7" r="0" b="-31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405261" y="2945871"/>
            <a:ext cx="9497730" cy="392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con</a:t>
            </a: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st urlParams =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new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URLSearchParams(window.location.search);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const productId = urlParams.get('id');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document.getElementById("p-name") </a:t>
            </a:r>
          </a:p>
          <a:p>
            <a:pPr algn="l">
              <a:lnSpc>
                <a:spcPts val="3869"/>
              </a:lnSpc>
            </a:pPr>
            <a:r>
              <a:rPr lang="en-US" b="true" sz="3224">
                <a:solidFill>
                  <a:srgbClr val="2E7D32"/>
                </a:solidFill>
                <a:latin typeface="Poppins Bold"/>
                <a:ea typeface="Poppins Bold"/>
                <a:cs typeface="Poppins Bold"/>
                <a:sym typeface="Poppins Bold"/>
              </a:rPr>
              <a:t> .textContent = product.name;</a:t>
            </a:r>
          </a:p>
          <a:p>
            <a:pPr algn="l">
              <a:lnSpc>
                <a:spcPts val="386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5874" y="-11430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57438" y="3264694"/>
            <a:ext cx="5000625" cy="5000625"/>
            <a:chOff x="0" y="0"/>
            <a:chExt cx="6667500" cy="6667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6675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8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71547" y="857250"/>
            <a:ext cx="14216654" cy="557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10"/>
              </a:lnSpc>
            </a:pPr>
            <a:r>
              <a:rPr lang="en-US" b="true" sz="17841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  <a:r>
              <a:rPr lang="en-US" b="true" sz="17841">
                <a:solidFill>
                  <a:srgbClr val="1B5E20"/>
                </a:solidFill>
                <a:latin typeface="Poppins Bold"/>
                <a:ea typeface="Poppins Bold"/>
                <a:cs typeface="Poppins Bold"/>
                <a:sym typeface="Poppins Bold"/>
              </a:rPr>
              <a:t> YOU!</a:t>
            </a:r>
          </a:p>
          <a:p>
            <a:pPr algn="l">
              <a:lnSpc>
                <a:spcPts val="2141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014898" y="4894823"/>
            <a:ext cx="7129952" cy="87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9"/>
              </a:lnSpc>
            </a:pPr>
            <a:r>
              <a:rPr lang="en-US" sz="3963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Ready for Que</a:t>
            </a:r>
            <a:r>
              <a:rPr lang="en-US" sz="3963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stions &amp; Answers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89775" y="7209165"/>
            <a:ext cx="410845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0"/>
              </a:lnSpc>
              <a:spcBef>
                <a:spcPct val="0"/>
              </a:spcBef>
            </a:pPr>
            <a:r>
              <a:rPr lang="en-US" b="true" sz="427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5" tooltip="https://holoc2021tv.github.io/Demo-DOC/"/>
              </a:rPr>
              <a:t> Nhấn vào đây.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DAHJv-nBXzc</dc:identifier>
  <dcterms:modified xsi:type="dcterms:W3CDTF">2011-08-01T06:04:30Z</dcterms:modified>
  <cp:revision>1</cp:revision>
  <dc:title>Hệ thống Quản lý Cây cảnh.pptx</dc:title>
</cp:coreProperties>
</file>