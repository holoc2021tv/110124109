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Poppins Bold" charset="1" panose="00000800000000000000"/>
      <p:regular r:id="rId19"/>
    </p:embeddedFont>
    <p:embeddedFont>
      <p:font typeface="Lato" charset="1" panose="020F0502020204030203"/>
      <p:regular r:id="rId20"/>
    </p:embeddedFont>
    <p:embeddedFont>
      <p:font typeface="Lato Bold" charset="1" panose="020F0502020204030203"/>
      <p:regular r:id="rId21"/>
    </p:embeddedFont>
    <p:embeddedFont>
      <p:font typeface="Calibri (MS)" charset="1" panose="020F050202020403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notesSlides/notesSlide3.xml" Type="http://schemas.openxmlformats.org/officeDocument/2006/relationships/notesSlide"/><Relationship Id="rId24" Target="notesSlides/notesSlide4.xml" Type="http://schemas.openxmlformats.org/officeDocument/2006/relationships/notesSlide"/><Relationship Id="rId25" Target="notesSlides/notesSlide5.xml" Type="http://schemas.openxmlformats.org/officeDocument/2006/relationships/notesSlide"/><Relationship Id="rId26" Target="notesSlides/notesSlide6.xml" Type="http://schemas.openxmlformats.org/officeDocument/2006/relationships/notesSlide"/><Relationship Id="rId27" Target="notesSlides/notesSlide7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8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9.xml" Type="http://schemas.openxmlformats.org/officeDocument/2006/relationships/notesSlide"/><Relationship Id="rId31" Target="notesSlides/notesSlide10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Good morning. My name is Ho The Loc from class DA24TTC. Today I will present my Web project: Plant Shop System using HTML DOM.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project goals are: creating a dynamic UI, building a shopping cart using CRUD workflow, and writing secure JavaScript code.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 used HTML and Bootstrap for layout, and centralized data in an Array. All logic is written in Vanilla JS without external libraries.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For data management, storing products in an Array of Objects separates the data from the visual interface, making updates very easy.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To build the UI securely, I used document.createElement. This prevents malicious code execution, known as XSS attacks, compared to using innerHTML.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DOM tree is assembled from the inside out. I use appendChild to build the hierarchy in memory before displaying it.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To process user clicks instantly, I embedded the product ID and price directly into the buttons using HTML data-attributes.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This is the core feature: Event Delegation. I attached ONE listener to the parent container instead of multiple buttons to save memory.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For the details page, I pass the product ID through the URL and read it using URLSearchParams, then render it safely with textContent.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Thank you for listening. I've prepared a question about Event Delegation, and I'm ready to answer any questions you have.</a:t>
            </a:r>
          </a:p>
          <a:p>
            <a:r>
              <a:rPr lang="en-US"/>
              <a:t>This is my demo. I invite everyone to take a look.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5.png" Type="http://schemas.openxmlformats.org/officeDocument/2006/relationships/image"/><Relationship Id="rId4" Target="https://holoc2021tv.github.io/110124109/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4354" y="0"/>
            <a:ext cx="2840456" cy="2840456"/>
            <a:chOff x="0" y="0"/>
            <a:chExt cx="3412350" cy="34123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412363" cy="3412363"/>
            </a:xfrm>
            <a:custGeom>
              <a:avLst/>
              <a:gdLst/>
              <a:ahLst/>
              <a:cxnLst/>
              <a:rect r="r" b="b" t="t" l="l"/>
              <a:pathLst>
                <a:path h="3412363" w="3412363">
                  <a:moveTo>
                    <a:pt x="0" y="0"/>
                  </a:moveTo>
                  <a:lnTo>
                    <a:pt x="3412363" y="0"/>
                  </a:lnTo>
                  <a:lnTo>
                    <a:pt x="3412363" y="3412363"/>
                  </a:lnTo>
                  <a:lnTo>
                    <a:pt x="0" y="34123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-492269" y="3311191"/>
            <a:ext cx="19646926" cy="172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199"/>
              </a:lnSpc>
            </a:pPr>
            <a:r>
              <a:rPr lang="en-US" b="true" sz="9999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PLANT SHOP SYSTEM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876378" y="5237578"/>
            <a:ext cx="12535215" cy="659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30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HTML </a:t>
            </a:r>
            <a:r>
              <a:rPr lang="en-US" sz="300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DOM Application Project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99675" y="6991159"/>
            <a:ext cx="4488622" cy="46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b="true" sz="3014">
                <a:solidFill>
                  <a:srgbClr val="1B5E20"/>
                </a:solidFill>
                <a:latin typeface="Lato Bold"/>
                <a:ea typeface="Lato Bold"/>
                <a:cs typeface="Lato Bold"/>
                <a:sym typeface="Lato Bold"/>
              </a:rPr>
              <a:t>Presented by: Ho The Loc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079256" y="7433099"/>
            <a:ext cx="4129459" cy="46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b="true" sz="3014">
                <a:solidFill>
                  <a:srgbClr val="1B5E20"/>
                </a:solidFill>
                <a:latin typeface="Lato Bold"/>
                <a:ea typeface="Lato Bold"/>
                <a:cs typeface="Lato Bold"/>
                <a:sym typeface="Lato Bold"/>
              </a:rPr>
              <a:t>Student ID: 110124109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705164" y="7875029"/>
            <a:ext cx="2877909" cy="46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7"/>
              </a:lnSpc>
            </a:pPr>
            <a:r>
              <a:rPr lang="en-US" b="true" sz="3014">
                <a:solidFill>
                  <a:srgbClr val="1B5E20"/>
                </a:solidFill>
                <a:latin typeface="Lato Bold"/>
                <a:ea typeface="Lato Bold"/>
                <a:cs typeface="Lato Bold"/>
                <a:sym typeface="Lato Bold"/>
              </a:rPr>
              <a:t>Class: DA24TTC 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57250" y="3171825"/>
            <a:ext cx="5238826" cy="5186362"/>
            <a:chOff x="0" y="0"/>
            <a:chExt cx="6985102" cy="6915150"/>
          </a:xfrm>
        </p:grpSpPr>
        <p:sp>
          <p:nvSpPr>
            <p:cNvPr name="Freeform 4" id="4" descr="image.png"/>
            <p:cNvSpPr/>
            <p:nvPr/>
          </p:nvSpPr>
          <p:spPr>
            <a:xfrm flipH="false" flipV="false" rot="0">
              <a:off x="0" y="0"/>
              <a:ext cx="6985127" cy="6915150"/>
            </a:xfrm>
            <a:custGeom>
              <a:avLst/>
              <a:gdLst/>
              <a:ahLst/>
              <a:cxnLst/>
              <a:rect r="r" b="b" t="t" l="l"/>
              <a:pathLst>
                <a:path h="6915150" w="6985127">
                  <a:moveTo>
                    <a:pt x="0" y="0"/>
                  </a:moveTo>
                  <a:lnTo>
                    <a:pt x="6985127" y="0"/>
                  </a:lnTo>
                  <a:lnTo>
                    <a:pt x="6985127" y="6915150"/>
                  </a:lnTo>
                  <a:lnTo>
                    <a:pt x="0" y="6915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89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6524701" y="3171825"/>
            <a:ext cx="5238826" cy="5186362"/>
            <a:chOff x="0" y="0"/>
            <a:chExt cx="6985102" cy="6915150"/>
          </a:xfrm>
        </p:grpSpPr>
        <p:sp>
          <p:nvSpPr>
            <p:cNvPr name="Freeform 6" id="6" descr="image.png"/>
            <p:cNvSpPr/>
            <p:nvPr/>
          </p:nvSpPr>
          <p:spPr>
            <a:xfrm flipH="false" flipV="false" rot="0">
              <a:off x="0" y="0"/>
              <a:ext cx="6985127" cy="6915150"/>
            </a:xfrm>
            <a:custGeom>
              <a:avLst/>
              <a:gdLst/>
              <a:ahLst/>
              <a:cxnLst/>
              <a:rect r="r" b="b" t="t" l="l"/>
              <a:pathLst>
                <a:path h="6915150" w="6985127">
                  <a:moveTo>
                    <a:pt x="0" y="0"/>
                  </a:moveTo>
                  <a:lnTo>
                    <a:pt x="6985127" y="0"/>
                  </a:lnTo>
                  <a:lnTo>
                    <a:pt x="6985127" y="6915150"/>
                  </a:lnTo>
                  <a:lnTo>
                    <a:pt x="0" y="6915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361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2192152" y="3171825"/>
            <a:ext cx="5238826" cy="5186362"/>
            <a:chOff x="0" y="0"/>
            <a:chExt cx="6985102" cy="6915150"/>
          </a:xfrm>
        </p:grpSpPr>
        <p:sp>
          <p:nvSpPr>
            <p:cNvPr name="Freeform 8" id="8" descr="image.png"/>
            <p:cNvSpPr/>
            <p:nvPr/>
          </p:nvSpPr>
          <p:spPr>
            <a:xfrm flipH="false" flipV="false" rot="0">
              <a:off x="0" y="0"/>
              <a:ext cx="6985127" cy="6915150"/>
            </a:xfrm>
            <a:custGeom>
              <a:avLst/>
              <a:gdLst/>
              <a:ahLst/>
              <a:cxnLst/>
              <a:rect r="r" b="b" t="t" l="l"/>
              <a:pathLst>
                <a:path h="6915150" w="6985127">
                  <a:moveTo>
                    <a:pt x="0" y="0"/>
                  </a:moveTo>
                  <a:lnTo>
                    <a:pt x="6985127" y="0"/>
                  </a:lnTo>
                  <a:lnTo>
                    <a:pt x="6985127" y="6915150"/>
                  </a:lnTo>
                  <a:lnTo>
                    <a:pt x="0" y="6915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361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428750" y="3814762"/>
            <a:ext cx="900112" cy="714375"/>
            <a:chOff x="0" y="0"/>
            <a:chExt cx="1200150" cy="952500"/>
          </a:xfrm>
        </p:grpSpPr>
        <p:sp>
          <p:nvSpPr>
            <p:cNvPr name="Freeform 10" id="10" descr="image.png"/>
            <p:cNvSpPr/>
            <p:nvPr/>
          </p:nvSpPr>
          <p:spPr>
            <a:xfrm flipH="false" flipV="false" rot="0">
              <a:off x="0" y="0"/>
              <a:ext cx="1200150" cy="952500"/>
            </a:xfrm>
            <a:custGeom>
              <a:avLst/>
              <a:gdLst/>
              <a:ahLst/>
              <a:cxnLst/>
              <a:rect r="r" b="b" t="t" l="l"/>
              <a:pathLst>
                <a:path h="952500" w="1200150">
                  <a:moveTo>
                    <a:pt x="0" y="0"/>
                  </a:moveTo>
                  <a:lnTo>
                    <a:pt x="1200150" y="0"/>
                  </a:lnTo>
                  <a:lnTo>
                    <a:pt x="120015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096201" y="3814762"/>
            <a:ext cx="800100" cy="714375"/>
            <a:chOff x="0" y="0"/>
            <a:chExt cx="1066800" cy="952500"/>
          </a:xfrm>
        </p:grpSpPr>
        <p:sp>
          <p:nvSpPr>
            <p:cNvPr name="Freeform 12" id="12" descr="image.png"/>
            <p:cNvSpPr/>
            <p:nvPr/>
          </p:nvSpPr>
          <p:spPr>
            <a:xfrm flipH="false" flipV="false" rot="0">
              <a:off x="0" y="0"/>
              <a:ext cx="1066800" cy="952500"/>
            </a:xfrm>
            <a:custGeom>
              <a:avLst/>
              <a:gdLst/>
              <a:ahLst/>
              <a:cxnLst/>
              <a:rect r="r" b="b" t="t" l="l"/>
              <a:pathLst>
                <a:path h="952500" w="1066800">
                  <a:moveTo>
                    <a:pt x="0" y="0"/>
                  </a:moveTo>
                  <a:lnTo>
                    <a:pt x="1066800" y="0"/>
                  </a:lnTo>
                  <a:lnTo>
                    <a:pt x="10668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1785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763652" y="3814762"/>
            <a:ext cx="714375" cy="714375"/>
            <a:chOff x="0" y="0"/>
            <a:chExt cx="952500" cy="952500"/>
          </a:xfrm>
        </p:grpSpPr>
        <p:sp>
          <p:nvSpPr>
            <p:cNvPr name="Freeform 14" id="14" descr="image.png"/>
            <p:cNvSpPr/>
            <p:nvPr/>
          </p:nvSpPr>
          <p:spPr>
            <a:xfrm flipH="false" flipV="false" rot="0">
              <a:off x="0" y="0"/>
              <a:ext cx="952500" cy="952500"/>
            </a:xfrm>
            <a:custGeom>
              <a:avLst/>
              <a:gdLst/>
              <a:ahLst/>
              <a:cxnLst/>
              <a:rect r="r" b="b" t="t" l="l"/>
              <a:pathLst>
                <a:path h="952500" w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200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28750" y="4867275"/>
            <a:ext cx="243840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  <a:r>
              <a:rPr lang="en-US" b="true" sz="315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Dynamic UI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28750" y="5538787"/>
            <a:ext cx="4095902" cy="10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Render content without page reloads.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096201" y="4867275"/>
            <a:ext cx="3066058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Cart Workflow: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096201" y="5538787"/>
            <a:ext cx="4095902" cy="10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</a:t>
            </a:r>
            <a:r>
              <a:rPr lang="en-US" sz="22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omplete CRUD (Create, Read, Update, Delete) cycle.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763652" y="5538787"/>
            <a:ext cx="4095902" cy="10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22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</a:t>
            </a:r>
            <a:r>
              <a:rPr lang="en-US" sz="22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ocus on XSS-safe code architecture.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43000" y="809625"/>
            <a:ext cx="5907485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Objectives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763652" y="4886325"/>
            <a:ext cx="1708646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b="true" sz="315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Se</a:t>
            </a:r>
            <a:r>
              <a:rPr lang="en-US" b="true" sz="315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curity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29750" y="3050381"/>
            <a:ext cx="8001000" cy="5429250"/>
            <a:chOff x="0" y="0"/>
            <a:chExt cx="10668000" cy="7239000"/>
          </a:xfrm>
        </p:grpSpPr>
        <p:sp>
          <p:nvSpPr>
            <p:cNvPr name="Freeform 4" id="4" descr="image.png"/>
            <p:cNvSpPr/>
            <p:nvPr/>
          </p:nvSpPr>
          <p:spPr>
            <a:xfrm flipH="false" flipV="false" rot="0">
              <a:off x="0" y="0"/>
              <a:ext cx="10668000" cy="7239000"/>
            </a:xfrm>
            <a:custGeom>
              <a:avLst/>
              <a:gdLst/>
              <a:ahLst/>
              <a:cxnLst/>
              <a:rect r="r" b="b" t="t" l="l"/>
              <a:pathLst>
                <a:path h="7239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239000"/>
                  </a:lnTo>
                  <a:lnTo>
                    <a:pt x="0" y="7239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263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256473" y="3100211"/>
            <a:ext cx="7506692" cy="515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5"/>
              </a:lnSpc>
            </a:pPr>
            <a:r>
              <a:rPr lang="en-US" sz="2362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HTML5</a:t>
            </a:r>
            <a:r>
              <a:rPr lang="en-US" sz="2362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&amp; Bootstrap 5: Structure and Responsive Layout.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56473" y="4320779"/>
            <a:ext cx="7700848" cy="514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21"/>
              </a:lnSpc>
            </a:pP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Vanilla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Java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cript: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Core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gic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354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&amp; DOM Tree Management.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21663" y="5530691"/>
            <a:ext cx="8272462" cy="523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6"/>
              </a:lnSpc>
            </a:pP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Model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2347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Centralized Array of Objects.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57250" y="3258979"/>
            <a:ext cx="257175" cy="357188"/>
            <a:chOff x="0" y="0"/>
            <a:chExt cx="342900" cy="476250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342900" cy="476250"/>
            </a:xfrm>
            <a:custGeom>
              <a:avLst/>
              <a:gdLst/>
              <a:ahLst/>
              <a:cxnLst/>
              <a:rect r="r" b="b" t="t" l="l"/>
              <a:pathLst>
                <a:path h="476250" w="342900">
                  <a:moveTo>
                    <a:pt x="0" y="0"/>
                  </a:moveTo>
                  <a:lnTo>
                    <a:pt x="342900" y="0"/>
                  </a:lnTo>
                  <a:lnTo>
                    <a:pt x="342900" y="476250"/>
                  </a:lnTo>
                  <a:lnTo>
                    <a:pt x="0" y="476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842962" y="4478416"/>
            <a:ext cx="257175" cy="357188"/>
            <a:chOff x="0" y="0"/>
            <a:chExt cx="342900" cy="476250"/>
          </a:xfrm>
        </p:grpSpPr>
        <p:sp>
          <p:nvSpPr>
            <p:cNvPr name="Freeform 11" id="11" descr="image.png"/>
            <p:cNvSpPr/>
            <p:nvPr/>
          </p:nvSpPr>
          <p:spPr>
            <a:xfrm flipH="false" flipV="false" rot="0">
              <a:off x="0" y="0"/>
              <a:ext cx="342900" cy="476250"/>
            </a:xfrm>
            <a:custGeom>
              <a:avLst/>
              <a:gdLst/>
              <a:ahLst/>
              <a:cxnLst/>
              <a:rect r="r" b="b" t="t" l="l"/>
              <a:pathLst>
                <a:path h="476250" w="342900">
                  <a:moveTo>
                    <a:pt x="0" y="0"/>
                  </a:moveTo>
                  <a:lnTo>
                    <a:pt x="342900" y="0"/>
                  </a:lnTo>
                  <a:lnTo>
                    <a:pt x="342900" y="476250"/>
                  </a:lnTo>
                  <a:lnTo>
                    <a:pt x="0" y="476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57250" y="5702141"/>
            <a:ext cx="300038" cy="357188"/>
            <a:chOff x="0" y="0"/>
            <a:chExt cx="400050" cy="476250"/>
          </a:xfrm>
        </p:grpSpPr>
        <p:sp>
          <p:nvSpPr>
            <p:cNvPr name="Freeform 13" id="13" descr="image.png"/>
            <p:cNvSpPr/>
            <p:nvPr/>
          </p:nvSpPr>
          <p:spPr>
            <a:xfrm flipH="false" flipV="false" rot="0">
              <a:off x="0" y="0"/>
              <a:ext cx="400050" cy="476250"/>
            </a:xfrm>
            <a:custGeom>
              <a:avLst/>
              <a:gdLst/>
              <a:ahLst/>
              <a:cxnLst/>
              <a:rect r="r" b="b" t="t" l="l"/>
              <a:pathLst>
                <a:path h="476250" w="400050">
                  <a:moveTo>
                    <a:pt x="0" y="0"/>
                  </a:moveTo>
                  <a:lnTo>
                    <a:pt x="400050" y="0"/>
                  </a:lnTo>
                  <a:lnTo>
                    <a:pt x="400050" y="476250"/>
                  </a:lnTo>
                  <a:lnTo>
                    <a:pt x="0" y="476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143000" y="809625"/>
            <a:ext cx="5960765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Technology Stack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9444038" y="3050362"/>
            <a:ext cx="8001000" cy="5429250"/>
            <a:chOff x="0" y="0"/>
            <a:chExt cx="10668000" cy="7239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0" cy="7239000"/>
            </a:xfrm>
            <a:custGeom>
              <a:avLst/>
              <a:gdLst/>
              <a:ahLst/>
              <a:cxnLst/>
              <a:rect r="r" b="b" t="t" l="l"/>
              <a:pathLst>
                <a:path h="723900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7239000"/>
                  </a:lnTo>
                  <a:lnTo>
                    <a:pt x="0" y="7239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5263" r="0" b="-5263"/>
              </a:stretch>
            </a:blipFill>
          </p:spPr>
        </p:sp>
      </p:grp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75714" y="2948770"/>
            <a:ext cx="8444381" cy="5471697"/>
            <a:chOff x="0" y="0"/>
            <a:chExt cx="9215757" cy="5971525"/>
          </a:xfrm>
        </p:grpSpPr>
        <p:sp>
          <p:nvSpPr>
            <p:cNvPr name="Freeform 4" id="4" descr="image.png"/>
            <p:cNvSpPr/>
            <p:nvPr/>
          </p:nvSpPr>
          <p:spPr>
            <a:xfrm flipH="false" flipV="false" rot="0">
              <a:off x="0" y="0"/>
              <a:ext cx="9215757" cy="5971525"/>
            </a:xfrm>
            <a:custGeom>
              <a:avLst/>
              <a:gdLst/>
              <a:ahLst/>
              <a:cxnLst/>
              <a:rect r="r" b="b" t="t" l="l"/>
              <a:pathLst>
                <a:path h="5971525" w="9215757">
                  <a:moveTo>
                    <a:pt x="0" y="0"/>
                  </a:moveTo>
                  <a:lnTo>
                    <a:pt x="9215757" y="0"/>
                  </a:lnTo>
                  <a:lnTo>
                    <a:pt x="9215757" y="5971525"/>
                  </a:lnTo>
                  <a:lnTo>
                    <a:pt x="0" y="59715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8" r="0" b="-18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28700" y="3246218"/>
            <a:ext cx="6863832" cy="483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true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const productList = [ </a:t>
            </a:r>
          </a:p>
          <a:p>
            <a:pPr algn="l">
              <a:lnSpc>
                <a:spcPts val="4200"/>
              </a:lnSpc>
            </a:pPr>
            <a:r>
              <a:rPr lang="en-US" sz="3500" b="true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{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</a:t>
            </a: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id: "1",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name: "Bàng Singapore",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price: "130.000",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productLink: "detail.html"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}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];</a:t>
            </a:r>
          </a:p>
          <a:p>
            <a:pPr algn="l">
              <a:lnSpc>
                <a:spcPts val="420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143000" y="809625"/>
            <a:ext cx="842774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Management (lib.js)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9286777" y="3673439"/>
            <a:ext cx="8773943" cy="2825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  <a:spcBef>
                <a:spcPct val="0"/>
              </a:spcBef>
            </a:pPr>
            <a:r>
              <a:rPr lang="en-US" sz="4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Separating data structures cleanly from </a:t>
            </a:r>
          </a:p>
          <a:p>
            <a:pPr algn="l">
              <a:lnSpc>
                <a:spcPts val="7680"/>
              </a:lnSpc>
              <a:spcBef>
                <a:spcPct val="0"/>
              </a:spcBef>
            </a:pPr>
            <a:r>
              <a:rPr lang="en-US" sz="4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visual markup, allowing rapid iteration </a:t>
            </a:r>
          </a:p>
          <a:p>
            <a:pPr algn="l">
              <a:lnSpc>
                <a:spcPts val="7680"/>
              </a:lnSpc>
              <a:spcBef>
                <a:spcPct val="0"/>
              </a:spcBef>
            </a:pPr>
            <a:r>
              <a:rPr lang="en-US" sz="400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and clean rendering loops.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29772" y="2621280"/>
            <a:ext cx="8785774" cy="4768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Usin</a:t>
            </a: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g createElement instead of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innerHTML to prevent Cross-Site Scripting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(XSS) input vulnerabilities.</a:t>
            </a:r>
          </a:p>
          <a:p>
            <a:pPr algn="l">
              <a:lnSpc>
                <a:spcPts val="7680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143000" y="809625"/>
            <a:ext cx="7155855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Core DOM Knowledge 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9144000" y="2489260"/>
            <a:ext cx="8382071" cy="5419961"/>
            <a:chOff x="0" y="0"/>
            <a:chExt cx="10918995" cy="7060370"/>
          </a:xfrm>
        </p:grpSpPr>
        <p:sp>
          <p:nvSpPr>
            <p:cNvPr name="Freeform 8" id="8" descr="image.png"/>
            <p:cNvSpPr/>
            <p:nvPr/>
          </p:nvSpPr>
          <p:spPr>
            <a:xfrm flipH="false" flipV="false" rot="0">
              <a:off x="0" y="0"/>
              <a:ext cx="10918996" cy="7060370"/>
            </a:xfrm>
            <a:custGeom>
              <a:avLst/>
              <a:gdLst/>
              <a:ahLst/>
              <a:cxnLst/>
              <a:rect r="r" b="b" t="t" l="l"/>
              <a:pathLst>
                <a:path h="7060370" w="10918996">
                  <a:moveTo>
                    <a:pt x="0" y="0"/>
                  </a:moveTo>
                  <a:lnTo>
                    <a:pt x="10918996" y="0"/>
                  </a:lnTo>
                  <a:lnTo>
                    <a:pt x="10918996" y="7060370"/>
                  </a:lnTo>
                  <a:lnTo>
                    <a:pt x="0" y="7060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23" r="0" b="-123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9181107" y="2705100"/>
            <a:ext cx="8344964" cy="483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true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const item =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</a:t>
            </a: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document.createElement("div");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item.className = "col mb-3"; </a:t>
            </a:r>
          </a:p>
          <a:p>
            <a:pPr algn="l">
              <a:lnSpc>
                <a:spcPts val="4200"/>
              </a:lnSpc>
            </a:pP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const title =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          document.createElement("h6");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 title.textContent = name;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43000" y="809625"/>
            <a:ext cx="6502400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DOM</a:t>
            </a: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 Tree Assembly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0849" y="2208140"/>
            <a:ext cx="8903151" cy="5870720"/>
            <a:chOff x="0" y="0"/>
            <a:chExt cx="10487066" cy="6915150"/>
          </a:xfrm>
        </p:grpSpPr>
        <p:sp>
          <p:nvSpPr>
            <p:cNvPr name="Freeform 7" id="7" descr="image.png"/>
            <p:cNvSpPr/>
            <p:nvPr/>
          </p:nvSpPr>
          <p:spPr>
            <a:xfrm flipH="false" flipV="false" rot="0">
              <a:off x="0" y="0"/>
              <a:ext cx="10487066" cy="6915150"/>
            </a:xfrm>
            <a:custGeom>
              <a:avLst/>
              <a:gdLst/>
              <a:ahLst/>
              <a:cxnLst/>
              <a:rect r="r" b="b" t="t" l="l"/>
              <a:pathLst>
                <a:path h="6915150" w="10487066">
                  <a:moveTo>
                    <a:pt x="0" y="0"/>
                  </a:moveTo>
                  <a:lnTo>
                    <a:pt x="10487066" y="0"/>
                  </a:lnTo>
                  <a:lnTo>
                    <a:pt x="10487066" y="6915150"/>
                  </a:lnTo>
                  <a:lnTo>
                    <a:pt x="0" y="6915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62" t="0" r="-86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57250" y="2490787"/>
            <a:ext cx="8286750" cy="527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ca</a:t>
            </a: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rdBody.appendChild(title);</a:t>
            </a:r>
          </a:p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cardBody.appendChild(priceText); </a:t>
            </a:r>
          </a:p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card.appendChild(cardBody); </a:t>
            </a:r>
          </a:p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productItem.appendChild(card);</a:t>
            </a:r>
          </a:p>
          <a:p>
            <a:pPr algn="l">
              <a:lnSpc>
                <a:spcPts val="4126"/>
              </a:lnSpc>
            </a:pPr>
          </a:p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document.getElementById("product?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list") </a:t>
            </a:r>
          </a:p>
          <a:p>
            <a:pPr algn="l">
              <a:lnSpc>
                <a:spcPts val="4126"/>
              </a:lnSpc>
            </a:pPr>
            <a:r>
              <a:rPr lang="en-US" b="true" sz="3438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.appendChild(productItem);</a:t>
            </a:r>
          </a:p>
          <a:p>
            <a:pPr algn="l">
              <a:lnSpc>
                <a:spcPts val="4126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9774209" y="2135505"/>
            <a:ext cx="7485091" cy="573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Const</a:t>
            </a: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ructs nodes safely in browser local </a:t>
            </a:r>
          </a:p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memory before pushing them live to the </a:t>
            </a:r>
          </a:p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dynamic container.</a:t>
            </a:r>
          </a:p>
          <a:p>
            <a:pPr algn="l">
              <a:lnSpc>
                <a:spcPts val="7679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43000" y="809625"/>
            <a:ext cx="5860455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Meta</a:t>
            </a: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data Binding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908973" y="2796788"/>
            <a:ext cx="2576998" cy="465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setAttribute(”class”,””)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5127" y="1842986"/>
            <a:ext cx="8159552" cy="7682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Embedding system identifie</a:t>
            </a: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rs and data </a:t>
            </a:r>
          </a:p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parameters directly into HTML button </a:t>
            </a:r>
          </a:p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components for instantaneous click tracking </a:t>
            </a:r>
          </a:p>
          <a:p>
            <a:pPr algn="l">
              <a:lnSpc>
                <a:spcPts val="7679"/>
              </a:lnSpc>
            </a:pPr>
            <a:r>
              <a:rPr lang="en-US" sz="3999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access</a:t>
            </a:r>
          </a:p>
          <a:p>
            <a:pPr algn="l">
              <a:lnSpc>
                <a:spcPts val="7679"/>
              </a:lnSpc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9050785" y="2271452"/>
            <a:ext cx="8723134" cy="5680078"/>
            <a:chOff x="0" y="0"/>
            <a:chExt cx="10275023" cy="6690592"/>
          </a:xfrm>
        </p:grpSpPr>
        <p:sp>
          <p:nvSpPr>
            <p:cNvPr name="Freeform 9" id="9" descr="image.png"/>
            <p:cNvSpPr/>
            <p:nvPr/>
          </p:nvSpPr>
          <p:spPr>
            <a:xfrm flipH="false" flipV="false" rot="0">
              <a:off x="0" y="0"/>
              <a:ext cx="10275022" cy="6690592"/>
            </a:xfrm>
            <a:custGeom>
              <a:avLst/>
              <a:gdLst/>
              <a:ahLst/>
              <a:cxnLst/>
              <a:rect r="r" b="b" t="t" l="l"/>
              <a:pathLst>
                <a:path h="6690592" w="10275022">
                  <a:moveTo>
                    <a:pt x="0" y="0"/>
                  </a:moveTo>
                  <a:lnTo>
                    <a:pt x="10275022" y="0"/>
                  </a:lnTo>
                  <a:lnTo>
                    <a:pt x="10275022" y="6690592"/>
                  </a:lnTo>
                  <a:lnTo>
                    <a:pt x="0" y="6690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26" t="0" r="-226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144000" y="2233352"/>
            <a:ext cx="8758992" cy="483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btnA</a:t>
            </a: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dd.setAttribute("data-id",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id); </a:t>
            </a:r>
          </a:p>
          <a:p>
            <a:pPr algn="l">
              <a:lnSpc>
                <a:spcPts val="4200"/>
              </a:lnSpc>
            </a:pP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btnAdd.setAttribute("data-name",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name); </a:t>
            </a:r>
          </a:p>
          <a:p>
            <a:pPr algn="l">
              <a:lnSpc>
                <a:spcPts val="4200"/>
              </a:lnSpc>
            </a:pP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btnAdd.setAttribute("data-price",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price);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57402" y="892969"/>
            <a:ext cx="7501052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Eve</a:t>
            </a: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nt Delegation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107016" y="1163955"/>
            <a:ext cx="7152284" cy="7682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Attaching a single event listene</a:t>
            </a: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 to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static parent node instead of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hundreds of child buttons. Minimizes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application RAM footprint.</a:t>
            </a:r>
          </a:p>
          <a:p>
            <a:pPr algn="l">
              <a:lnSpc>
                <a:spcPts val="7680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240849" y="2208140"/>
            <a:ext cx="8903151" cy="5870720"/>
            <a:chOff x="0" y="0"/>
            <a:chExt cx="10487066" cy="6915150"/>
          </a:xfrm>
        </p:grpSpPr>
        <p:sp>
          <p:nvSpPr>
            <p:cNvPr name="Freeform 8" id="8" descr="image.png"/>
            <p:cNvSpPr/>
            <p:nvPr/>
          </p:nvSpPr>
          <p:spPr>
            <a:xfrm flipH="false" flipV="false" rot="0">
              <a:off x="0" y="0"/>
              <a:ext cx="10487066" cy="6915150"/>
            </a:xfrm>
            <a:custGeom>
              <a:avLst/>
              <a:gdLst/>
              <a:ahLst/>
              <a:cxnLst/>
              <a:rect r="r" b="b" t="t" l="l"/>
              <a:pathLst>
                <a:path h="6915150" w="10487066">
                  <a:moveTo>
                    <a:pt x="0" y="0"/>
                  </a:moveTo>
                  <a:lnTo>
                    <a:pt x="10487066" y="0"/>
                  </a:lnTo>
                  <a:lnTo>
                    <a:pt x="10487066" y="6915150"/>
                  </a:lnTo>
                  <a:lnTo>
                    <a:pt x="0" y="6915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862" t="0" r="-862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37442" y="2528094"/>
            <a:ext cx="8021011" cy="5211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</a:t>
            </a: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.getElementById("product?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list")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.addEventListener("click",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function(e) {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if(e.target.classList.contains("add"))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{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const id =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e.target.getAttribute("data-id");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// Cart logic...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} </a:t>
            </a:r>
          </a:p>
          <a:p>
            <a:pPr algn="l">
              <a:lnSpc>
                <a:spcPts val="3461"/>
              </a:lnSpc>
            </a:pPr>
            <a:r>
              <a:rPr lang="en-US" b="true" sz="2884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});</a:t>
            </a:r>
          </a:p>
          <a:p>
            <a:pPr algn="l">
              <a:lnSpc>
                <a:spcPts val="3461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222" r="0" b="-922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43000" y="809625"/>
            <a:ext cx="9248775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U</a:t>
            </a:r>
            <a:r>
              <a:rPr lang="en-US" b="true" sz="5000">
                <a:solidFill>
                  <a:srgbClr val="1B5E20"/>
                </a:solidFill>
                <a:latin typeface="Poppins Bold"/>
                <a:ea typeface="Poppins Bold"/>
                <a:cs typeface="Poppins Bold"/>
                <a:sym typeface="Poppins Bold"/>
              </a:rPr>
              <a:t>RL Parameters &amp; Safe State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57250" y="857250"/>
            <a:ext cx="114300" cy="814388"/>
            <a:chOff x="0" y="0"/>
            <a:chExt cx="152400" cy="10858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2400" cy="1085850"/>
            </a:xfrm>
            <a:custGeom>
              <a:avLst/>
              <a:gdLst/>
              <a:ahLst/>
              <a:cxnLst/>
              <a:rect r="r" b="b" t="t" l="l"/>
              <a:pathLst>
                <a:path h="108585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1085850"/>
                  </a:lnTo>
                  <a:lnTo>
                    <a:pt x="0" y="1085850"/>
                  </a:lnTo>
                  <a:close/>
                </a:path>
              </a:pathLst>
            </a:custGeom>
            <a:solidFill>
              <a:srgbClr val="8BC34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71550" y="2698221"/>
            <a:ext cx="7152284" cy="6711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</a:t>
            </a: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assing state identifiers via page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location que</a:t>
            </a: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ry strings. Using safe text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node injection logic to render </a:t>
            </a:r>
          </a:p>
          <a:p>
            <a:pPr algn="l">
              <a:lnSpc>
                <a:spcPts val="7680"/>
              </a:lnSpc>
            </a:pPr>
            <a:r>
              <a:rPr lang="en-US" sz="400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contents safely.</a:t>
            </a:r>
          </a:p>
          <a:p>
            <a:pPr algn="l">
              <a:lnSpc>
                <a:spcPts val="7680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8123834" y="2005583"/>
            <a:ext cx="9743300" cy="6275835"/>
            <a:chOff x="0" y="0"/>
            <a:chExt cx="11476681" cy="7392337"/>
          </a:xfrm>
        </p:grpSpPr>
        <p:sp>
          <p:nvSpPr>
            <p:cNvPr name="Freeform 8" id="8" descr="image.png"/>
            <p:cNvSpPr/>
            <p:nvPr/>
          </p:nvSpPr>
          <p:spPr>
            <a:xfrm flipH="false" flipV="false" rot="0">
              <a:off x="0" y="0"/>
              <a:ext cx="11476681" cy="7392336"/>
            </a:xfrm>
            <a:custGeom>
              <a:avLst/>
              <a:gdLst/>
              <a:ahLst/>
              <a:cxnLst/>
              <a:rect r="r" b="b" t="t" l="l"/>
              <a:pathLst>
                <a:path h="7392336" w="11476681">
                  <a:moveTo>
                    <a:pt x="0" y="0"/>
                  </a:moveTo>
                  <a:lnTo>
                    <a:pt x="11476681" y="0"/>
                  </a:lnTo>
                  <a:lnTo>
                    <a:pt x="11476681" y="7392336"/>
                  </a:lnTo>
                  <a:lnTo>
                    <a:pt x="0" y="739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17" r="0" b="-317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8405261" y="2705100"/>
            <a:ext cx="9497730" cy="483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con</a:t>
            </a: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st urlParams =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new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URLSearchParams(window.location.search);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const productId = urlParams.get('id');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document.getElementById("p-name") </a:t>
            </a:r>
          </a:p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2E7D32"/>
                </a:solidFill>
                <a:latin typeface="Poppins Bold"/>
                <a:ea typeface="Poppins Bold"/>
                <a:cs typeface="Poppins Bold"/>
                <a:sym typeface="Poppins Bold"/>
              </a:rPr>
              <a:t> .textContent = product.name;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119993" y="4386861"/>
            <a:ext cx="6139307" cy="1437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68"/>
              </a:lnSpc>
              <a:spcBef>
                <a:spcPct val="0"/>
              </a:spcBef>
            </a:pPr>
            <a:r>
              <a:rPr lang="en-US" b="true" sz="8973" u="sng">
                <a:solidFill>
                  <a:srgbClr val="C1FF72"/>
                </a:solidFill>
                <a:latin typeface="Poppins Bold"/>
                <a:ea typeface="Poppins Bold"/>
                <a:cs typeface="Poppins Bold"/>
                <a:sym typeface="Poppins Bold"/>
                <a:hlinkClick r:id="rId4" tooltip="https://holoc2021tv.github.io/110124109/"/>
              </a:rPr>
              <a:t>Click me !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DAHJv-nBXzc</dc:identifier>
  <dcterms:modified xsi:type="dcterms:W3CDTF">2011-08-01T06:04:30Z</dcterms:modified>
  <cp:revision>1</cp:revision>
  <dc:title>Hệ thống Quản lý Cây cảnh.pptx</dc:title>
</cp:coreProperties>
</file>